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72F80E-D70F-0F88-8C88-B5097D6FB1DA}" v="420" dt="2025-04-23T00:28:05.598"/>
    <p1510:client id="{9FC0002D-AF6B-85F0-1B45-989B6ECE5CFD}" v="6" dt="2025-04-23T00:07:08.033"/>
    <p1510:client id="{B6B790BC-A41E-480F-BE81-D902C1D2D0A6}" v="1569" dt="2025-04-22T23:43:59.5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9E016143-E03C-4CFD-AFDC-14E5BDEA754C}" type="datetimeFigureOut">
              <a:rPr lang="en-US" dirty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543111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94063-DF36-4330-A365-08DA1FA5B7D6}" type="datetimeFigureOut">
              <a:rPr lang="en-US" dirty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219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A7C6C-0F39-4D70-8E8D-FE5B9C95FA73}" type="datetimeFigureOut">
              <a:rPr lang="en-US" dirty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36137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FA4AC-08CC-42CE-BD01-C191750A04EC}" type="datetimeFigureOut">
              <a:rPr lang="en-US" dirty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800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7A723-92A7-435B-B681-F25B092FEFEB}" type="datetimeFigureOut">
              <a:rPr lang="en-US" dirty="0"/>
              <a:t>4/22/2025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268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70639-886C-4FCF-9EAB-ABB5DA3F3F4A}" type="datetimeFigureOut">
              <a:rPr lang="en-US" dirty="0"/>
              <a:t>4/22/2025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756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30651-31F4-45D2-98AE-A2108F41BC07}" type="datetimeFigureOut">
              <a:rPr lang="en-US" dirty="0"/>
              <a:t>4/22/2025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766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3789A-C914-4DB1-8815-80B5EC7335C5}" type="datetimeFigureOut">
              <a:rPr lang="en-US" dirty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182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blipFill>
            <a:blip r:embed="rId2"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440AA-91A0-436F-8FDB-C0F939DCAE21}" type="datetimeFigureOut">
              <a:rPr lang="en-US" dirty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59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3E54A-A8CA-48C1-9504-691B58049D29}" type="datetimeFigureOut">
              <a:rPr lang="en-US" dirty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186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6C806-BBF7-471C-9527-881CE2266695}" type="datetimeFigureOut">
              <a:rPr lang="en-US" dirty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233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0E59FD0C-5451-4CA0-86AF-E70AE3279989}" type="datetimeFigureOut">
              <a:rPr lang="en-US" dirty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117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andrewsundberg/college-basketball-dataset?resource=download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E2C05438-8975-4783-BCC7-9A4F0BD17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244"/>
            <a:ext cx="457200" cy="6858000"/>
          </a:xfrm>
          <a:prstGeom prst="rect">
            <a:avLst/>
          </a:prstGeom>
          <a:solidFill>
            <a:srgbClr val="6F6F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F0ACCC9-A5C0-44FC-9472-E3E4BF4B41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0"/>
            <a:ext cx="1083564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41573" y="758952"/>
            <a:ext cx="3907625" cy="4041648"/>
          </a:xfrm>
        </p:spPr>
        <p:txBody>
          <a:bodyPr>
            <a:normAutofit/>
          </a:bodyPr>
          <a:lstStyle/>
          <a:p>
            <a:r>
              <a:rPr lang="en-US" sz="6100">
                <a:solidFill>
                  <a:srgbClr val="FFFFFF"/>
                </a:solidFill>
              </a:rPr>
              <a:t>CMSE401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27094" y="4800600"/>
            <a:ext cx="3922103" cy="169164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>
                <a:solidFill>
                  <a:srgbClr val="D9D9D9"/>
                </a:solidFill>
              </a:rPr>
              <a:t>Jonathan Dela Cruz</a:t>
            </a:r>
          </a:p>
        </p:txBody>
      </p:sp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E8B8E8AE-1882-46F3-94E7-A2A3914947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2283" y="0"/>
            <a:ext cx="608735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March Madness printable bracket: Download a free 2025 NCAA Tournament  bracket PDF here | Sporting News">
            <a:extLst>
              <a:ext uri="{FF2B5EF4-FFF2-40B4-BE49-F238E27FC236}">
                <a16:creationId xmlns:a16="http://schemas.microsoft.com/office/drawing/2014/main" id="{1A36D0EB-84D1-03EB-35BF-CEEDF556D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944183" y="1980051"/>
            <a:ext cx="5151817" cy="2897897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F5AE0C4B-4D5E-48B0-929B-038F7E948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899160" cy="6858000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20771-812B-BB94-682D-D6AAD9A2E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</p:spPr>
        <p:txBody>
          <a:bodyPr>
            <a:normAutofit/>
          </a:bodyPr>
          <a:lstStyle/>
          <a:p>
            <a:r>
              <a:rPr lang="en-US"/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2F1A22-DC66-5DEE-1970-06EE767DB3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933575"/>
            <a:ext cx="4401509" cy="4246562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1700" b="1" dirty="0"/>
              <a:t>Goal:</a:t>
            </a:r>
            <a:r>
              <a:rPr lang="en-US" sz="1700" dirty="0"/>
              <a:t> run simulations, in parallel, of each matchup/potential matchup in the 2025 March Madness Tournament</a:t>
            </a:r>
          </a:p>
          <a:p>
            <a:pPr lvl="1">
              <a:buFont typeface="Courier New" pitchFamily="34" charset="0"/>
              <a:buChar char="o"/>
            </a:pPr>
            <a:r>
              <a:rPr lang="en-US" sz="1700" spc="10" dirty="0"/>
              <a:t>This year, approximately 24.4 million brackets were filled on ESPN Men's Tournament Challenge</a:t>
            </a:r>
          </a:p>
          <a:p>
            <a:pPr lvl="1">
              <a:buFont typeface="Courier New" pitchFamily="34" charset="0"/>
              <a:buChar char="o"/>
            </a:pPr>
            <a:r>
              <a:rPr lang="en-US" sz="1700" spc="10" dirty="0"/>
              <a:t>Odds of a perfect bracket are about 1 in 9.2 quintillion</a:t>
            </a:r>
          </a:p>
          <a:p>
            <a:pPr lvl="1">
              <a:buFont typeface="Courier New" pitchFamily="34" charset="0"/>
              <a:buChar char="o"/>
            </a:pPr>
            <a:r>
              <a:rPr lang="en-US" sz="1700" spc="10" dirty="0"/>
              <a:t>How predictable is the tournament?</a:t>
            </a:r>
          </a:p>
          <a:p>
            <a:r>
              <a:rPr lang="en-US" sz="1700" dirty="0" err="1"/>
              <a:t>PyTorch</a:t>
            </a:r>
            <a:endParaRPr lang="en-US" sz="1700" spc="10" dirty="0" err="1"/>
          </a:p>
          <a:p>
            <a:pPr lvl="1">
              <a:buFont typeface="Courier New" pitchFamily="34" charset="0"/>
              <a:buChar char="o"/>
            </a:pPr>
            <a:r>
              <a:rPr lang="en-US" sz="1700" b="1" spc="10" dirty="0" err="1"/>
              <a:t>PyTorch</a:t>
            </a:r>
            <a:r>
              <a:rPr lang="en-US" sz="1700" spc="10" dirty="0"/>
              <a:t> is a fully featured machine learning library used for building deep learning models</a:t>
            </a:r>
          </a:p>
          <a:p>
            <a:pPr lvl="1">
              <a:buFont typeface="Courier New" pitchFamily="34" charset="0"/>
              <a:buChar char="o"/>
            </a:pPr>
            <a:r>
              <a:rPr lang="en-US" sz="1700" spc="10" dirty="0"/>
              <a:t>Use </a:t>
            </a:r>
            <a:r>
              <a:rPr lang="en-US" sz="1700" spc="10" dirty="0" err="1"/>
              <a:t>PyTorch</a:t>
            </a:r>
            <a:r>
              <a:rPr lang="en-US" sz="1700" spc="10" dirty="0"/>
              <a:t> to train a model on previous tournament data</a:t>
            </a:r>
          </a:p>
          <a:p>
            <a:endParaRPr lang="en-US" sz="1700"/>
          </a:p>
        </p:txBody>
      </p:sp>
      <p:pic>
        <p:nvPicPr>
          <p:cNvPr id="4" name="Picture 3" descr="What is PyTorch? | Data Science | NVIDIA Glossary">
            <a:extLst>
              <a:ext uri="{FF2B5EF4-FFF2-40B4-BE49-F238E27FC236}">
                <a16:creationId xmlns:a16="http://schemas.microsoft.com/office/drawing/2014/main" id="{CA0720B0-B6FA-4BFC-6BFF-E946CF525C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2918245"/>
            <a:ext cx="4807287" cy="1670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988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E53F4E5A-C9EE-4859-B46B-F018F7D73A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29284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4F1131-9F14-20AB-3A5A-C5C8B0319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4564674"/>
            <a:ext cx="4010820" cy="1615461"/>
          </a:xfrm>
        </p:spPr>
        <p:txBody>
          <a:bodyPr anchor="ctr">
            <a:normAutofit/>
          </a:bodyPr>
          <a:lstStyle/>
          <a:p>
            <a:r>
              <a:rPr lang="en-US" sz="3200"/>
              <a:t>Data Set</a:t>
            </a:r>
          </a:p>
        </p:txBody>
      </p:sp>
      <p:pic>
        <p:nvPicPr>
          <p:cNvPr id="7" name="Picture 6" descr="A table of numbers and letters&#10;&#10;AI-generated content may be incorrect.">
            <a:extLst>
              <a:ext uri="{FF2B5EF4-FFF2-40B4-BE49-F238E27FC236}">
                <a16:creationId xmlns:a16="http://schemas.microsoft.com/office/drawing/2014/main" id="{DC69E45D-7C7D-E551-ECF3-32E46D5421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308" b="12327"/>
          <a:stretch/>
        </p:blipFill>
        <p:spPr>
          <a:xfrm>
            <a:off x="20" y="1"/>
            <a:ext cx="11292820" cy="4396479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41A955B-D579-48FD-A51C-51B0C0B69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53000" y="4813604"/>
            <a:ext cx="0" cy="111760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07F60B-1E0E-B3BD-7CC3-C8B883790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55" y="4810976"/>
            <a:ext cx="5665871" cy="1615463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1200"/>
              <a:t>Team statistics from the 2013-2023 college basketball seasons </a:t>
            </a:r>
            <a:r>
              <a:rPr lang="en-US" sz="1200">
                <a:hlinkClick r:id="rId3"/>
              </a:rPr>
              <a:t>(kaggle)</a:t>
            </a:r>
            <a:endParaRPr lang="en-US" sz="1200"/>
          </a:p>
          <a:p>
            <a:pPr lvl="1">
              <a:buFont typeface="Courier New" pitchFamily="34" charset="0"/>
              <a:buChar char="o"/>
            </a:pPr>
            <a:r>
              <a:rPr lang="en-US" sz="1200" b="1" spc="10"/>
              <a:t>Key Features:</a:t>
            </a:r>
            <a:r>
              <a:rPr lang="en-US" sz="1200" spc="10"/>
              <a:t> Adjusted Offensive/Defensive Efficiency, Wins, Turnover Rate, Offensive Rebounding Rate</a:t>
            </a:r>
          </a:p>
          <a:p>
            <a:pPr lvl="1">
              <a:buFont typeface="Courier New" pitchFamily="34" charset="0"/>
              <a:buChar char="o"/>
            </a:pPr>
            <a:r>
              <a:rPr lang="en-US" sz="1200" spc="10"/>
              <a:t>Added the "Seed" and "Region" to add to the model and mimic the tournament</a:t>
            </a:r>
          </a:p>
          <a:p>
            <a:r>
              <a:rPr lang="en-US" sz="1200"/>
              <a:t>Also included data from the 2024 and 2025 college basketball season</a:t>
            </a:r>
          </a:p>
          <a:p>
            <a:pPr lvl="1">
              <a:buFont typeface="Courier New" pitchFamily="34" charset="0"/>
              <a:buChar char="o"/>
            </a:pPr>
            <a:r>
              <a:rPr lang="en-US" sz="1200" spc="10"/>
              <a:t>2024 data used for testing the model</a:t>
            </a:r>
          </a:p>
          <a:p>
            <a:pPr lvl="1">
              <a:buFont typeface="Courier New" pitchFamily="34" charset="0"/>
              <a:buChar char="o"/>
            </a:pPr>
            <a:r>
              <a:rPr lang="en-US" sz="1200" spc="10"/>
              <a:t>2025 data used to predict the outcome of the tournament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507482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9791A-DA80-6D15-A65A-D4051D0FD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3" y="365760"/>
            <a:ext cx="6111914" cy="1558574"/>
          </a:xfrm>
        </p:spPr>
        <p:txBody>
          <a:bodyPr>
            <a:normAutofit/>
          </a:bodyPr>
          <a:lstStyle/>
          <a:p>
            <a:r>
              <a:rPr lang="en-US"/>
              <a:t>Model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49BFB09-0AA3-6FC7-CFCA-738E25CF9B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1003" y="2201308"/>
            <a:ext cx="6272783" cy="397882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Took our matchup data from the                           tournament from 2013-2023 and trained our model</a:t>
            </a:r>
          </a:p>
          <a:p>
            <a:pPr lvl="1">
              <a:buFont typeface="Courier New" pitchFamily="34" charset="0"/>
              <a:buChar char="o"/>
            </a:pPr>
            <a:r>
              <a:rPr lang="en-US" spc="10">
                <a:solidFill>
                  <a:srgbClr val="000000"/>
                </a:solidFill>
              </a:rPr>
              <a:t>Model consists of </a:t>
            </a:r>
            <a:r>
              <a:rPr lang="en-US" b="1" spc="10">
                <a:solidFill>
                  <a:srgbClr val="000000"/>
                </a:solidFill>
              </a:rPr>
              <a:t>Input Layer</a:t>
            </a:r>
            <a:r>
              <a:rPr lang="en-US" spc="10">
                <a:solidFill>
                  <a:srgbClr val="000000"/>
                </a:solidFill>
              </a:rPr>
              <a:t>, </a:t>
            </a:r>
            <a:r>
              <a:rPr lang="en-US" b="1" spc="10">
                <a:solidFill>
                  <a:srgbClr val="000000"/>
                </a:solidFill>
              </a:rPr>
              <a:t>Hidden Layers</a:t>
            </a:r>
            <a:r>
              <a:rPr lang="en-US" spc="10">
                <a:solidFill>
                  <a:srgbClr val="000000"/>
                </a:solidFill>
              </a:rPr>
              <a:t>, and </a:t>
            </a:r>
            <a:r>
              <a:rPr lang="en-US" b="1" spc="10">
                <a:solidFill>
                  <a:srgbClr val="000000"/>
                </a:solidFill>
              </a:rPr>
              <a:t>Output Layer</a:t>
            </a:r>
          </a:p>
          <a:p>
            <a:pPr lvl="1">
              <a:buFont typeface="Courier New" pitchFamily="34" charset="0"/>
              <a:buChar char="o"/>
            </a:pPr>
            <a:r>
              <a:rPr lang="en-US" spc="10">
                <a:solidFill>
                  <a:srgbClr val="000000"/>
                </a:solidFill>
              </a:rPr>
              <a:t>Used Pandas </a:t>
            </a:r>
            <a:r>
              <a:rPr lang="en-US" spc="10" err="1">
                <a:solidFill>
                  <a:srgbClr val="000000"/>
                </a:solidFill>
              </a:rPr>
              <a:t>df.corr</a:t>
            </a:r>
            <a:r>
              <a:rPr lang="en-US" spc="10">
                <a:solidFill>
                  <a:srgbClr val="000000"/>
                </a:solidFill>
              </a:rPr>
              <a:t>() function to see which statistics had a significant correlation with tournament success</a:t>
            </a:r>
            <a:endParaRPr lang="en-US"/>
          </a:p>
          <a:p>
            <a:pPr lvl="1">
              <a:buFont typeface="Courier New" pitchFamily="34" charset="0"/>
              <a:buChar char="o"/>
            </a:pPr>
            <a:r>
              <a:rPr lang="en-US" spc="10">
                <a:solidFill>
                  <a:srgbClr val="000000"/>
                </a:solidFill>
              </a:rPr>
              <a:t>The hidden layers are just the number of neurons used to learn the data (tentative)</a:t>
            </a:r>
          </a:p>
          <a:p>
            <a:pPr lvl="1">
              <a:buFont typeface="Courier New" pitchFamily="34" charset="0"/>
              <a:buChar char="o"/>
            </a:pPr>
            <a:r>
              <a:rPr lang="en-US" spc="10">
                <a:solidFill>
                  <a:srgbClr val="000000"/>
                </a:solidFill>
              </a:rPr>
              <a:t>Output layer is our prediction; Team 0 or Team 1 wins</a:t>
            </a:r>
          </a:p>
          <a:p>
            <a:pPr lvl="1">
              <a:buFont typeface="Courier New" pitchFamily="34" charset="0"/>
              <a:buChar char="o"/>
            </a:pPr>
            <a:endParaRPr lang="en-US" spc="10">
              <a:solidFill>
                <a:srgbClr val="000000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F7E013D-0DE5-4A1E-B229-8063BAAE9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90960" y="-2811"/>
            <a:ext cx="3601880" cy="686081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table with numbers and a number of people&#10;&#10;AI-generated content may be incorrect.">
            <a:extLst>
              <a:ext uri="{FF2B5EF4-FFF2-40B4-BE49-F238E27FC236}">
                <a16:creationId xmlns:a16="http://schemas.microsoft.com/office/drawing/2014/main" id="{5AEB5A44-444B-DBE0-9940-C82F9842F4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9925" y="168688"/>
            <a:ext cx="5646667" cy="2370367"/>
          </a:xfrm>
          <a:prstGeom prst="rect">
            <a:avLst/>
          </a:prstGeom>
        </p:spPr>
      </p:pic>
      <p:pic>
        <p:nvPicPr>
          <p:cNvPr id="6" name="Picture 5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90A4A72C-2589-EAF1-C2D6-4AEB96B088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68" r="12873" b="263"/>
          <a:stretch/>
        </p:blipFill>
        <p:spPr>
          <a:xfrm>
            <a:off x="5155011" y="4924605"/>
            <a:ext cx="5973982" cy="1752256"/>
          </a:xfrm>
          <a:prstGeom prst="rect">
            <a:avLst/>
          </a:prstGeom>
        </p:spPr>
      </p:pic>
      <p:pic>
        <p:nvPicPr>
          <p:cNvPr id="7" name="Picture 6" descr="A white background with red text&#10;&#10;AI-generated content may be incorrect.">
            <a:extLst>
              <a:ext uri="{FF2B5EF4-FFF2-40B4-BE49-F238E27FC236}">
                <a16:creationId xmlns:a16="http://schemas.microsoft.com/office/drawing/2014/main" id="{18928061-03B3-6D20-84B6-FFF8A7A232A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5745" b="201"/>
          <a:stretch/>
        </p:blipFill>
        <p:spPr>
          <a:xfrm>
            <a:off x="7153914" y="3588331"/>
            <a:ext cx="3975079" cy="505711"/>
          </a:xfrm>
          <a:prstGeom prst="rect">
            <a:avLst/>
          </a:prstGeom>
        </p:spPr>
      </p:pic>
      <p:pic>
        <p:nvPicPr>
          <p:cNvPr id="3" name="Picture 2" descr="A close-up of a text&#10;&#10;AI-generated content may be incorrect.">
            <a:extLst>
              <a:ext uri="{FF2B5EF4-FFF2-40B4-BE49-F238E27FC236}">
                <a16:creationId xmlns:a16="http://schemas.microsoft.com/office/drawing/2014/main" id="{4947A5CF-95DE-CEF1-D772-52296A2F40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602" y="5214615"/>
            <a:ext cx="4493009" cy="121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04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0B92F-8123-391D-E274-BEB20D731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050" y="640081"/>
            <a:ext cx="5842918" cy="1325562"/>
          </a:xfrm>
        </p:spPr>
        <p:txBody>
          <a:bodyPr>
            <a:normAutofit/>
          </a:bodyPr>
          <a:lstStyle/>
          <a:p>
            <a:r>
              <a:rPr lang="en-US"/>
              <a:t>Simulation (In Parallel)</a:t>
            </a:r>
          </a:p>
        </p:txBody>
      </p:sp>
      <p:pic>
        <p:nvPicPr>
          <p:cNvPr id="5" name="Picture 4" descr="Python Multiprocessing | Create Parallel Program Using Different Class">
            <a:extLst>
              <a:ext uri="{FF2B5EF4-FFF2-40B4-BE49-F238E27FC236}">
                <a16:creationId xmlns:a16="http://schemas.microsoft.com/office/drawing/2014/main" id="{63E98334-BB73-56CE-5B41-EB8A09DAF5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99" y="977973"/>
            <a:ext cx="4019312" cy="229100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E2923D-7EC4-4A42-A49D-42999EF8C8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0050" y="2301554"/>
            <a:ext cx="5854764" cy="434424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500" dirty="0"/>
              <a:t>Put our 2025 data through the model; adding </a:t>
            </a:r>
            <a:r>
              <a:rPr lang="en-US" sz="1500" b="1" dirty="0"/>
              <a:t>noise</a:t>
            </a:r>
            <a:r>
              <a:rPr lang="en-US" sz="1500" dirty="0"/>
              <a:t> to imitate unpredictability</a:t>
            </a:r>
          </a:p>
          <a:p>
            <a:pPr lvl="1">
              <a:buFont typeface="Courier New" pitchFamily="34" charset="0"/>
              <a:buChar char="o"/>
            </a:pPr>
            <a:r>
              <a:rPr lang="en-US" sz="1500" spc="10" dirty="0"/>
              <a:t>For each simulation, the matchup is passed into the model and random noise is added to the corresponding tensors</a:t>
            </a:r>
          </a:p>
          <a:p>
            <a:pPr lvl="1">
              <a:buFont typeface="Courier New" pitchFamily="34" charset="0"/>
              <a:buChar char="o"/>
            </a:pPr>
            <a:r>
              <a:rPr lang="en-US" sz="1500" spc="10" dirty="0"/>
              <a:t>Running many simulations is </a:t>
            </a:r>
            <a:r>
              <a:rPr lang="en-US" sz="1500" b="1" spc="10" dirty="0"/>
              <a:t>computationally expensive</a:t>
            </a:r>
            <a:r>
              <a:rPr lang="en-US" sz="1500" spc="10" dirty="0"/>
              <a:t> </a:t>
            </a:r>
          </a:p>
          <a:p>
            <a:r>
              <a:rPr lang="en-US" sz="1500" b="1" dirty="0"/>
              <a:t>Multiprocessing: </a:t>
            </a:r>
            <a:r>
              <a:rPr lang="en-US" sz="1500" dirty="0"/>
              <a:t>the multiprocessing module is a package in python that fully leverages processors on a given machine</a:t>
            </a:r>
            <a:endParaRPr lang="en-US" sz="1500" spc="10" dirty="0"/>
          </a:p>
          <a:p>
            <a:pPr lvl="1">
              <a:buFont typeface="Courier New" pitchFamily="34" charset="0"/>
              <a:buChar char="o"/>
            </a:pPr>
            <a:r>
              <a:rPr lang="en-US" sz="1500" spc="10" dirty="0"/>
              <a:t>Since each game is independent of each other, we can run simulations of each game </a:t>
            </a:r>
            <a:r>
              <a:rPr lang="en-US" sz="1500" b="1" spc="10" dirty="0"/>
              <a:t>concurrently</a:t>
            </a:r>
            <a:r>
              <a:rPr lang="en-US" sz="1500" spc="10" dirty="0"/>
              <a:t> instead of one at a time</a:t>
            </a:r>
          </a:p>
          <a:p>
            <a:pPr lvl="1">
              <a:buFont typeface="Courier New" pitchFamily="34" charset="0"/>
              <a:buChar char="o"/>
            </a:pPr>
            <a:r>
              <a:rPr lang="en-US" sz="1500" spc="10" dirty="0"/>
              <a:t>Pool() function creates a pool of worker processes</a:t>
            </a:r>
          </a:p>
          <a:p>
            <a:pPr lvl="1">
              <a:buFont typeface="Courier New" pitchFamily="34" charset="0"/>
              <a:buChar char="o"/>
            </a:pPr>
            <a:r>
              <a:rPr lang="en-US" sz="1500" spc="10" dirty="0"/>
              <a:t>Uses </a:t>
            </a:r>
            <a:r>
              <a:rPr lang="en-US" sz="1500" b="1" spc="10" dirty="0"/>
              <a:t>multiple CPU cores</a:t>
            </a:r>
            <a:r>
              <a:rPr lang="en-US" sz="1500" spc="10" dirty="0"/>
              <a:t> to simultaneously run simulations</a:t>
            </a:r>
          </a:p>
          <a:p>
            <a:pPr lvl="1">
              <a:buFont typeface="Courier New" pitchFamily="34" charset="0"/>
              <a:buChar char="o"/>
            </a:pPr>
            <a:r>
              <a:rPr lang="en-US" sz="1500" spc="10" dirty="0"/>
              <a:t>Uses </a:t>
            </a:r>
            <a:r>
              <a:rPr lang="en-US" sz="1500" b="1" spc="10" dirty="0"/>
              <a:t>shared memory</a:t>
            </a:r>
            <a:r>
              <a:rPr lang="en-US" sz="1500" spc="10" dirty="0"/>
              <a:t> so each process doesn't make its own copy of the model</a:t>
            </a:r>
          </a:p>
          <a:p>
            <a:pPr lvl="1">
              <a:buFont typeface="Courier New" pitchFamily="34" charset="0"/>
              <a:buChar char="o"/>
            </a:pPr>
            <a:endParaRPr lang="en-US" sz="1500" spc="10"/>
          </a:p>
          <a:p>
            <a:pPr lvl="1">
              <a:buFont typeface="Courier New" pitchFamily="34" charset="0"/>
              <a:buChar char="o"/>
            </a:pPr>
            <a:endParaRPr lang="en-US" sz="1500" spc="10"/>
          </a:p>
          <a:p>
            <a:pPr lvl="1">
              <a:buFont typeface="Courier New" pitchFamily="34" charset="0"/>
              <a:buChar char="o"/>
            </a:pPr>
            <a:endParaRPr lang="en-US" sz="1500" spc="10"/>
          </a:p>
          <a:p>
            <a:pPr lvl="1">
              <a:buFont typeface="Courier New" pitchFamily="34" charset="0"/>
              <a:buChar char="o"/>
            </a:pPr>
            <a:endParaRPr lang="en-US" sz="1500" spc="1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632AE7B-9F64-4DA0-908C-FF0274747A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4" name="Picture 3" descr="A close-up of a text&#10;&#10;AI-generated content may be incorrect.">
            <a:extLst>
              <a:ext uri="{FF2B5EF4-FFF2-40B4-BE49-F238E27FC236}">
                <a16:creationId xmlns:a16="http://schemas.microsoft.com/office/drawing/2014/main" id="{6E3AF8E3-0E02-7CE6-AC29-C5D06E9FF8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99" y="5735321"/>
            <a:ext cx="4019312" cy="895776"/>
          </a:xfrm>
          <a:prstGeom prst="rect">
            <a:avLst/>
          </a:prstGeom>
        </p:spPr>
      </p:pic>
      <p:pic>
        <p:nvPicPr>
          <p:cNvPr id="6" name="Picture 5" descr="A screenshot of a graph&#10;&#10;AI-generated content may be incorrect.">
            <a:extLst>
              <a:ext uri="{FF2B5EF4-FFF2-40B4-BE49-F238E27FC236}">
                <a16:creationId xmlns:a16="http://schemas.microsoft.com/office/drawing/2014/main" id="{5A951251-21E4-1702-F541-DD24516EE65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488" t="717" r="59513"/>
          <a:stretch/>
        </p:blipFill>
        <p:spPr>
          <a:xfrm>
            <a:off x="1681163" y="3429000"/>
            <a:ext cx="1930403" cy="2061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315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708AB-2327-950B-E25F-D21C51061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Results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C16CE2E-F468-3BFF-D674-C50E24BE03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6197417"/>
              </p:ext>
            </p:extLst>
          </p:nvPr>
        </p:nvGraphicFramePr>
        <p:xfrm>
          <a:off x="1806899" y="3362697"/>
          <a:ext cx="8594724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454">
                  <a:extLst>
                    <a:ext uri="{9D8B030D-6E8A-4147-A177-3AD203B41FA5}">
                      <a16:colId xmlns:a16="http://schemas.microsoft.com/office/drawing/2014/main" val="877985722"/>
                    </a:ext>
                  </a:extLst>
                </a:gridCol>
                <a:gridCol w="1432454">
                  <a:extLst>
                    <a:ext uri="{9D8B030D-6E8A-4147-A177-3AD203B41FA5}">
                      <a16:colId xmlns:a16="http://schemas.microsoft.com/office/drawing/2014/main" val="230541205"/>
                    </a:ext>
                  </a:extLst>
                </a:gridCol>
                <a:gridCol w="1432454">
                  <a:extLst>
                    <a:ext uri="{9D8B030D-6E8A-4147-A177-3AD203B41FA5}">
                      <a16:colId xmlns:a16="http://schemas.microsoft.com/office/drawing/2014/main" val="3216610795"/>
                    </a:ext>
                  </a:extLst>
                </a:gridCol>
                <a:gridCol w="1432454">
                  <a:extLst>
                    <a:ext uri="{9D8B030D-6E8A-4147-A177-3AD203B41FA5}">
                      <a16:colId xmlns:a16="http://schemas.microsoft.com/office/drawing/2014/main" val="3707008468"/>
                    </a:ext>
                  </a:extLst>
                </a:gridCol>
                <a:gridCol w="1432454">
                  <a:extLst>
                    <a:ext uri="{9D8B030D-6E8A-4147-A177-3AD203B41FA5}">
                      <a16:colId xmlns:a16="http://schemas.microsoft.com/office/drawing/2014/main" val="3079504253"/>
                    </a:ext>
                  </a:extLst>
                </a:gridCol>
                <a:gridCol w="1432454">
                  <a:extLst>
                    <a:ext uri="{9D8B030D-6E8A-4147-A177-3AD203B41FA5}">
                      <a16:colId xmlns:a16="http://schemas.microsoft.com/office/drawing/2014/main" val="8597721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4633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Serial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~20 seconds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~30 seconds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~75 seconds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~2.5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~9 minutes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3946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Parallel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~8 seconds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~9 seconds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~13 seconds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~21 seconds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~1 minute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549278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266E872-833F-E148-89F0-3543DDE75D0D}"/>
              </a:ext>
            </a:extLst>
          </p:cNvPr>
          <p:cNvSpPr txBox="1"/>
          <p:nvPr/>
        </p:nvSpPr>
        <p:spPr>
          <a:xfrm>
            <a:off x="1371599" y="3352799"/>
            <a:ext cx="2743199" cy="3657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1399B6-52B7-F6A4-E3C7-D07F408474CB}"/>
              </a:ext>
            </a:extLst>
          </p:cNvPr>
          <p:cNvSpPr txBox="1"/>
          <p:nvPr/>
        </p:nvSpPr>
        <p:spPr>
          <a:xfrm>
            <a:off x="1295399" y="3441700"/>
            <a:ext cx="2743199" cy="3657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5F3332-D19E-C7A3-5C81-368844F6C888}"/>
              </a:ext>
            </a:extLst>
          </p:cNvPr>
          <p:cNvSpPr txBox="1"/>
          <p:nvPr/>
        </p:nvSpPr>
        <p:spPr>
          <a:xfrm>
            <a:off x="1380718" y="3360615"/>
            <a:ext cx="9196102" cy="34648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559493-D16B-2C2B-F904-DD3F95911C7B}"/>
              </a:ext>
            </a:extLst>
          </p:cNvPr>
          <p:cNvSpPr txBox="1"/>
          <p:nvPr/>
        </p:nvSpPr>
        <p:spPr>
          <a:xfrm>
            <a:off x="1293553" y="1922973"/>
            <a:ext cx="8557078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/>
              <a:t>As the number of simulations increases, we can see a significant improvement in runtime and efficiency</a:t>
            </a:r>
          </a:p>
          <a:p>
            <a:pPr marL="742950" lvl="1" indent="-285750">
              <a:buFont typeface="Courier New"/>
              <a:buChar char="o"/>
            </a:pPr>
            <a:r>
              <a:rPr lang="en-US" dirty="0"/>
              <a:t>1,000 simulations we have a </a:t>
            </a:r>
            <a:r>
              <a:rPr lang="en-US" b="1" dirty="0"/>
              <a:t>60%</a:t>
            </a:r>
            <a:r>
              <a:rPr lang="en-US" dirty="0"/>
              <a:t> speed up</a:t>
            </a:r>
          </a:p>
          <a:p>
            <a:pPr marL="742950" lvl="1" indent="-285750">
              <a:buFont typeface="Courier New"/>
              <a:buChar char="o"/>
            </a:pPr>
            <a:r>
              <a:rPr lang="en-US" dirty="0"/>
              <a:t>100,000 simulations we have a </a:t>
            </a:r>
            <a:r>
              <a:rPr lang="en-US" b="1" dirty="0"/>
              <a:t>90%</a:t>
            </a:r>
            <a:r>
              <a:rPr lang="en-US" dirty="0"/>
              <a:t> speed up</a:t>
            </a:r>
          </a:p>
        </p:txBody>
      </p:sp>
      <p:pic>
        <p:nvPicPr>
          <p:cNvPr id="9" name="Picture 8" descr="A graph with a line&#10;&#10;AI-generated content may be incorrect.">
            <a:extLst>
              <a:ext uri="{FF2B5EF4-FFF2-40B4-BE49-F238E27FC236}">
                <a16:creationId xmlns:a16="http://schemas.microsoft.com/office/drawing/2014/main" id="{B64DCA0F-C8EE-4D11-19F9-D011A3467C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3983" y="4641947"/>
            <a:ext cx="4248728" cy="2183493"/>
          </a:xfrm>
          <a:prstGeom prst="rect">
            <a:avLst/>
          </a:prstGeom>
        </p:spPr>
      </p:pic>
      <p:pic>
        <p:nvPicPr>
          <p:cNvPr id="10" name="Picture 9" descr="Free business and finance icons">
            <a:extLst>
              <a:ext uri="{FF2B5EF4-FFF2-40B4-BE49-F238E27FC236}">
                <a16:creationId xmlns:a16="http://schemas.microsoft.com/office/drawing/2014/main" id="{18664839-95A2-CEA6-DE00-F0D928A03B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914" y="119818"/>
            <a:ext cx="2530172" cy="2530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218620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View</vt:lpstr>
      <vt:lpstr>CMSE401 Project</vt:lpstr>
      <vt:lpstr>Abstract</vt:lpstr>
      <vt:lpstr>Data Set</vt:lpstr>
      <vt:lpstr>Model</vt:lpstr>
      <vt:lpstr>Simulation (In Parallel)</vt:lpstr>
      <vt:lpstr>Results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169</cp:revision>
  <dcterms:created xsi:type="dcterms:W3CDTF">2025-04-22T15:13:51Z</dcterms:created>
  <dcterms:modified xsi:type="dcterms:W3CDTF">2025-04-23T00:32:43Z</dcterms:modified>
</cp:coreProperties>
</file>